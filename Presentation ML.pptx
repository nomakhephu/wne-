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hp1MpMl0HYbAarzQrrRyhWq7rs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d0ba4f6f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d0ba4f6f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d0ba4f6f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d0ba4f6f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Interaction terms were also created to capture combined effects like manager times experience.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ed0ba4f6f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ed0ba4f6f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d0ba4f6f1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d0ba4f6f1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ed0ba4f6f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ed0ba4f6f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>
                <a:solidFill>
                  <a:schemeClr val="dk1"/>
                </a:solidFill>
              </a:rPr>
              <a:t>The Normal RMSE of </a:t>
            </a:r>
            <a:r>
              <a:rPr b="1" lang="pl">
                <a:solidFill>
                  <a:schemeClr val="dk1"/>
                </a:solidFill>
              </a:rPr>
              <a:t>$33,368</a:t>
            </a:r>
            <a:r>
              <a:rPr lang="pl">
                <a:solidFill>
                  <a:schemeClr val="dk1"/>
                </a:solidFill>
              </a:rPr>
              <a:t> is the reported metric, computed on rows where the true salary falls between $41 and $177,388, which covers 98.5% of the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32072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pl" sz="4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MACHINE LEARNING PROJECTS:</a:t>
            </a:r>
            <a:endParaRPr b="1" sz="29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pl" sz="4000">
                <a:solidFill>
                  <a:srgbClr val="1F4E79"/>
                </a:solidFill>
                <a:highlight>
                  <a:srgbClr val="181818"/>
                </a:highlight>
                <a:latin typeface="Calibri"/>
                <a:ea typeface="Calibri"/>
                <a:cs typeface="Calibri"/>
                <a:sym typeface="Calibri"/>
              </a:rPr>
              <a:t>PREDICTING RESTAURANTS SURVIVAL 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8" y="25717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lang="p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Aldaheir Leonardo De Jesus </a:t>
            </a:r>
            <a:endParaRPr b="0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Nomakhephu Nomcoyiya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17468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pl" sz="4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PURPOSE </a:t>
            </a:r>
            <a:endParaRPr b="1" sz="2620"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287647"/>
            <a:ext cx="830751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p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project builds a machine learning model that predicts whether a restaurant is still OPEN (0) or has CLOSED (1), using ratings, reviews, and location/business features.</a:t>
            </a:r>
            <a:endParaRPr b="0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p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 compare three standard ML methods and evaluate them with balanced accuracy.</a:t>
            </a:r>
            <a:endParaRPr b="0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 txBox="1"/>
          <p:nvPr>
            <p:ph type="title"/>
          </p:nvPr>
        </p:nvSpPr>
        <p:spPr>
          <a:xfrm>
            <a:off x="311700" y="158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8"/>
              <a:buNone/>
            </a:pPr>
            <a:r>
              <a:rPr b="1" lang="pl" sz="4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THE DATA </a:t>
            </a:r>
            <a:endParaRPr b="1"/>
          </a:p>
        </p:txBody>
      </p:sp>
      <p:sp>
        <p:nvSpPr>
          <p:cNvPr id="67" name="Google Shape;67;p3"/>
          <p:cNvSpPr txBox="1"/>
          <p:nvPr>
            <p:ph idx="1" type="body"/>
          </p:nvPr>
        </p:nvSpPr>
        <p:spPr>
          <a:xfrm>
            <a:off x="139148" y="1035329"/>
            <a:ext cx="5021829" cy="3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49250" lvl="0" marL="45720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13095"/>
              <a:buChar char="●"/>
            </a:pPr>
            <a:r>
              <a:rPr b="0" lang="pl" sz="2400">
                <a:solidFill>
                  <a:schemeClr val="dk1"/>
                </a:solidFill>
                <a:highlight>
                  <a:srgbClr val="181818"/>
                </a:highlight>
                <a:latin typeface="Calibri"/>
                <a:ea typeface="Calibri"/>
                <a:cs typeface="Calibri"/>
                <a:sym typeface="Calibri"/>
              </a:rPr>
              <a:t>The training set has 33,296 restaurants. </a:t>
            </a:r>
            <a:endParaRPr sz="1900">
              <a:solidFill>
                <a:schemeClr val="dk1"/>
              </a:solidFill>
              <a:highlight>
                <a:srgbClr val="181818"/>
              </a:highlight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3095"/>
              <a:buChar char="●"/>
            </a:pPr>
            <a:r>
              <a:rPr b="0" lang="pl" sz="2400">
                <a:solidFill>
                  <a:schemeClr val="dk1"/>
                </a:solidFill>
                <a:highlight>
                  <a:srgbClr val="181818"/>
                </a:highlight>
                <a:latin typeface="Calibri"/>
                <a:ea typeface="Calibri"/>
                <a:cs typeface="Calibri"/>
                <a:sym typeface="Calibri"/>
              </a:rPr>
              <a:t>Each row is labeled with status_closed: 0 = open, 1 = closed (training data). </a:t>
            </a:r>
            <a:endParaRPr sz="1900">
              <a:solidFill>
                <a:schemeClr val="dk1"/>
              </a:solidFill>
              <a:highlight>
                <a:srgbClr val="181818"/>
              </a:highlight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3095"/>
              <a:buChar char="●"/>
            </a:pPr>
            <a:r>
              <a:rPr b="0" lang="pl" sz="2400">
                <a:solidFill>
                  <a:schemeClr val="dk1"/>
                </a:solidFill>
                <a:highlight>
                  <a:srgbClr val="181818"/>
                </a:highlight>
                <a:latin typeface="Calibri"/>
                <a:ea typeface="Calibri"/>
                <a:cs typeface="Calibri"/>
                <a:sym typeface="Calibri"/>
              </a:rPr>
              <a:t>Features include ratings, review history, location and catchment variables, opening hours, and categorical business attributes.</a:t>
            </a:r>
            <a:endParaRPr sz="1900">
              <a:solidFill>
                <a:schemeClr val="dk1"/>
              </a:solidFill>
              <a:highlight>
                <a:srgbClr val="181818"/>
              </a:highlight>
            </a:endParaRPr>
          </a:p>
          <a:p>
            <a:pPr indent="-3492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3095"/>
              <a:buChar char="●"/>
            </a:pPr>
            <a:r>
              <a:rPr b="0" lang="pl" sz="2400">
                <a:solidFill>
                  <a:schemeClr val="dk1"/>
                </a:solidFill>
                <a:highlight>
                  <a:srgbClr val="181818"/>
                </a:highlight>
                <a:latin typeface="Calibri"/>
                <a:ea typeface="Calibri"/>
                <a:cs typeface="Calibri"/>
                <a:sym typeface="Calibri"/>
              </a:rPr>
              <a:t>The test set has 8,325 restaurants with the same kinds of features but no status_closed label.</a:t>
            </a:r>
            <a:endParaRPr sz="1900">
              <a:solidFill>
                <a:schemeClr val="dk1"/>
              </a:solidFill>
              <a:highlight>
                <a:srgbClr val="181818"/>
              </a:highlight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5000"/>
              <a:buChar char="●"/>
            </a:pPr>
            <a:r>
              <a:rPr b="0" lang="pl" sz="2400">
                <a:solidFill>
                  <a:schemeClr val="dk1"/>
                </a:solidFill>
                <a:highlight>
                  <a:srgbClr val="181818"/>
                </a:highlight>
                <a:latin typeface="Calibri"/>
                <a:ea typeface="Calibri"/>
                <a:cs typeface="Calibri"/>
                <a:sym typeface="Calibri"/>
              </a:rPr>
              <a:t>The training labels are imbalanced: about 10% closed and 90% open. That shape of the data drives our choice of balanced accuracy and stratified splits later in the project.</a:t>
            </a:r>
            <a:endParaRPr sz="2100">
              <a:solidFill>
                <a:schemeClr val="dk1"/>
              </a:solidFill>
              <a:highlight>
                <a:srgbClr val="181818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200"/>
              </a:spcAft>
              <a:buSzPct val="142857"/>
              <a:buNone/>
            </a:pPr>
            <a:r>
              <a:t/>
            </a:r>
            <a:endParaRPr/>
          </a:p>
        </p:txBody>
      </p:sp>
      <p:pic>
        <p:nvPicPr>
          <p:cNvPr descr="cell17_out00.png" id="68" name="Google Shape;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7580" y="1035329"/>
            <a:ext cx="3474720" cy="3394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/>
          <p:nvPr>
            <p:ph type="title"/>
          </p:nvPr>
        </p:nvSpPr>
        <p:spPr>
          <a:xfrm>
            <a:off x="229404" y="-8532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2000"/>
              </a:lnSpc>
              <a:spcBef>
                <a:spcPts val="1200"/>
              </a:spcBef>
              <a:spcAft>
                <a:spcPts val="0"/>
              </a:spcAft>
              <a:buSzPct val="77778"/>
              <a:buNone/>
            </a:pPr>
            <a:r>
              <a:rPr b="1" lang="pl" sz="4000">
                <a:solidFill>
                  <a:srgbClr val="1F4E79"/>
                </a:solidFill>
                <a:highlight>
                  <a:srgbClr val="181818"/>
                </a:highlight>
                <a:latin typeface="Calibri"/>
                <a:ea typeface="Calibri"/>
                <a:cs typeface="Calibri"/>
                <a:sym typeface="Calibri"/>
              </a:rPr>
              <a:t>SPLITS AND PRE-PROCESSING </a:t>
            </a:r>
            <a:endParaRPr b="1" sz="2450">
              <a:highlight>
                <a:srgbClr val="181818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 txBox="1"/>
          <p:nvPr>
            <p:ph idx="1" type="body"/>
          </p:nvPr>
        </p:nvSpPr>
        <p:spPr>
          <a:xfrm>
            <a:off x="0" y="863550"/>
            <a:ext cx="5358384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2418"/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181818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5586"/>
              <a:buChar char="●"/>
            </a:pPr>
            <a:r>
              <a:rPr b="0" lang="pl" sz="2400">
                <a:solidFill>
                  <a:schemeClr val="dk1"/>
                </a:solidFill>
                <a:highlight>
                  <a:srgbClr val="181818"/>
                </a:highlight>
                <a:latin typeface="Calibri"/>
                <a:ea typeface="Calibri"/>
                <a:cs typeface="Calibri"/>
                <a:sym typeface="Calibri"/>
              </a:rPr>
              <a:t>Data are split 70% train / 15% validation / 15% internal test, with stratification so each part keeps roughly the same share of closed restaurants. </a:t>
            </a:r>
            <a:endParaRPr sz="1900">
              <a:solidFill>
                <a:schemeClr val="dk1"/>
              </a:solidFill>
              <a:highlight>
                <a:srgbClr val="181818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5586"/>
              <a:buChar char="●"/>
            </a:pPr>
            <a:r>
              <a:rPr b="0" lang="pl" sz="2400">
                <a:solidFill>
                  <a:schemeClr val="dk1"/>
                </a:solidFill>
                <a:highlight>
                  <a:srgbClr val="181818"/>
                </a:highlight>
                <a:latin typeface="Calibri"/>
                <a:ea typeface="Calibri"/>
                <a:cs typeface="Calibri"/>
                <a:sym typeface="Calibri"/>
              </a:rPr>
              <a:t>High-missing columns are dropped</a:t>
            </a:r>
            <a:endParaRPr sz="1900">
              <a:solidFill>
                <a:schemeClr val="dk1"/>
              </a:solidFill>
              <a:highlight>
                <a:srgbClr val="181818"/>
              </a:highlight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5586"/>
              <a:buChar char="●"/>
            </a:pPr>
            <a:r>
              <a:rPr b="0" lang="pl" sz="2400">
                <a:solidFill>
                  <a:schemeClr val="dk1"/>
                </a:solidFill>
                <a:highlight>
                  <a:srgbClr val="181818"/>
                </a:highlight>
                <a:latin typeface="Calibri"/>
                <a:ea typeface="Calibri"/>
                <a:cs typeface="Calibri"/>
                <a:sym typeface="Calibri"/>
              </a:rPr>
              <a:t>Skewed counts are log-transformed; then we impute, scale, and one-hot encode.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descr="cell15_out00.png" id="75" name="Google Shape;7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9020" y="1058020"/>
            <a:ext cx="3474720" cy="3394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2000"/>
              </a:lnSpc>
              <a:spcBef>
                <a:spcPts val="1200"/>
              </a:spcBef>
              <a:spcAft>
                <a:spcPts val="0"/>
              </a:spcAft>
              <a:buSzPct val="77778"/>
              <a:buNone/>
            </a:pPr>
            <a:r>
              <a:rPr b="1" lang="pl" sz="4000">
                <a:solidFill>
                  <a:srgbClr val="1F4E79"/>
                </a:solidFill>
                <a:highlight>
                  <a:srgbClr val="181818"/>
                </a:highlight>
                <a:latin typeface="Calibri"/>
                <a:ea typeface="Calibri"/>
                <a:cs typeface="Calibri"/>
                <a:sym typeface="Calibri"/>
              </a:rPr>
              <a:t>THREE MACHINE LEARNING MODELS </a:t>
            </a:r>
            <a:endParaRPr b="1" sz="2450">
              <a:highlight>
                <a:srgbClr val="181818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 txBox="1"/>
          <p:nvPr>
            <p:ph idx="1" type="body"/>
          </p:nvPr>
        </p:nvSpPr>
        <p:spPr>
          <a:xfrm>
            <a:off x="393000" y="962848"/>
            <a:ext cx="8358000" cy="40297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b="0" lang="pl" sz="2400">
                <a:solidFill>
                  <a:schemeClr val="dk1"/>
                </a:solidFill>
                <a:highlight>
                  <a:srgbClr val="181818"/>
                </a:highlight>
                <a:latin typeface="Calibri"/>
                <a:ea typeface="Calibri"/>
                <a:cs typeface="Calibri"/>
                <a:sym typeface="Calibri"/>
              </a:rPr>
              <a:t>All three models use the same features; only the classifier changes. Hyperparameters are tuned with GridSearchCV, optimizing balanced accuracy with stratified cross-validation.</a:t>
            </a:r>
            <a:endParaRPr sz="1900">
              <a:solidFill>
                <a:schemeClr val="dk1"/>
              </a:solidFill>
              <a:highlight>
                <a:srgbClr val="181818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900">
              <a:solidFill>
                <a:schemeClr val="dk1"/>
              </a:solidFill>
              <a:highlight>
                <a:srgbClr val="181818"/>
              </a:highlight>
            </a:endParaRPr>
          </a:p>
          <a:p>
            <a:pPr indent="-457200" lvl="0" marL="56515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0" lang="pl" sz="2400">
                <a:solidFill>
                  <a:schemeClr val="dk1"/>
                </a:solidFill>
                <a:highlight>
                  <a:srgbClr val="181818"/>
                </a:highlight>
                <a:latin typeface="Calibri"/>
                <a:ea typeface="Calibri"/>
                <a:cs typeface="Calibri"/>
                <a:sym typeface="Calibri"/>
              </a:rPr>
              <a:t>Logistic regression — L2, class_weight="balanced”</a:t>
            </a:r>
            <a:endParaRPr sz="1900">
              <a:solidFill>
                <a:schemeClr val="dk1"/>
              </a:solidFill>
              <a:highlight>
                <a:srgbClr val="181818"/>
              </a:highlight>
            </a:endParaRPr>
          </a:p>
          <a:p>
            <a:pPr indent="-457200" lvl="0" marL="56515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0" lang="pl" sz="2400">
                <a:solidFill>
                  <a:schemeClr val="dk1"/>
                </a:solidFill>
                <a:highlight>
                  <a:srgbClr val="181818"/>
                </a:highlight>
                <a:latin typeface="Calibri"/>
                <a:ea typeface="Calibri"/>
                <a:cs typeface="Calibri"/>
                <a:sym typeface="Calibri"/>
              </a:rPr>
              <a:t>kNN — KNeighborsClassifier (n_neighbors, weights)</a:t>
            </a:r>
            <a:endParaRPr sz="1900">
              <a:solidFill>
                <a:schemeClr val="dk1"/>
              </a:solidFill>
              <a:highlight>
                <a:srgbClr val="181818"/>
              </a:highlight>
            </a:endParaRPr>
          </a:p>
          <a:p>
            <a:pPr indent="-457200" lvl="0" marL="56515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0" lang="pl" sz="2400">
                <a:solidFill>
                  <a:schemeClr val="dk1"/>
                </a:solidFill>
                <a:highlight>
                  <a:srgbClr val="181818"/>
                </a:highlight>
                <a:latin typeface="Calibri"/>
                <a:ea typeface="Calibri"/>
                <a:cs typeface="Calibri"/>
                <a:sym typeface="Calibri"/>
              </a:rPr>
              <a:t>Linear SVM — LinearSVC, class_weight="balanced"</a:t>
            </a:r>
            <a:endParaRPr sz="1900">
              <a:solidFill>
                <a:schemeClr val="dk1"/>
              </a:solidFill>
              <a:highlight>
                <a:srgbClr val="181818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>
            <p:ph type="title"/>
          </p:nvPr>
        </p:nvSpPr>
        <p:spPr>
          <a:xfrm>
            <a:off x="311700" y="-19505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2000"/>
              </a:lnSpc>
              <a:spcBef>
                <a:spcPts val="1200"/>
              </a:spcBef>
              <a:spcAft>
                <a:spcPts val="0"/>
              </a:spcAft>
              <a:buSzPct val="77778"/>
              <a:buNone/>
            </a:pPr>
            <a:r>
              <a:rPr b="1" lang="pl" sz="4000">
                <a:solidFill>
                  <a:srgbClr val="1F4E79"/>
                </a:solidFill>
                <a:highlight>
                  <a:srgbClr val="181818"/>
                </a:highlight>
                <a:latin typeface="Calibri"/>
                <a:ea typeface="Calibri"/>
                <a:cs typeface="Calibri"/>
                <a:sym typeface="Calibri"/>
              </a:rPr>
              <a:t>WINNER </a:t>
            </a:r>
            <a:endParaRPr b="1" sz="2450">
              <a:highlight>
                <a:srgbClr val="181818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 txBox="1"/>
          <p:nvPr>
            <p:ph idx="1" type="body"/>
          </p:nvPr>
        </p:nvSpPr>
        <p:spPr>
          <a:xfrm>
            <a:off x="311700" y="1152475"/>
            <a:ext cx="480894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p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Winner chosen by validation balanced accuracy: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p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Linear SVM: 0.6719  →  Logistic: 0.6689  →  k-NN: 0.5055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p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SVM hyperparameter: C = 1.0</a:t>
            </a:r>
            <a:endParaRPr b="0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s_table.png" id="88" name="Google Shape;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0" y="1152475"/>
            <a:ext cx="4032504" cy="3394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>
            <p:ph type="title"/>
          </p:nvPr>
        </p:nvSpPr>
        <p:spPr>
          <a:xfrm>
            <a:off x="311700" y="20061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8"/>
              <a:buNone/>
            </a:pPr>
            <a:r>
              <a:rPr b="1" lang="pl" sz="4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INTERNAL TEST (svc_linear)</a:t>
            </a:r>
            <a:endParaRPr/>
          </a:p>
        </p:txBody>
      </p:sp>
      <p:sp>
        <p:nvSpPr>
          <p:cNvPr id="94" name="Google Shape;94;p7"/>
          <p:cNvSpPr txBox="1"/>
          <p:nvPr>
            <p:ph idx="1" type="body"/>
          </p:nvPr>
        </p:nvSpPr>
        <p:spPr>
          <a:xfrm>
            <a:off x="311700" y="1425906"/>
            <a:ext cx="4415748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p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 on the internal 15% hold-out (4,995 rows).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p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Balanced accuracy: 0.6768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p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Closed class: recall ≈ 0.69, precision ≈ 0.18 (false alarms)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p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class: precision ≈ 0.95</a:t>
            </a:r>
            <a:endParaRPr/>
          </a:p>
        </p:txBody>
      </p:sp>
      <p:pic>
        <p:nvPicPr>
          <p:cNvPr descr="cell30_out01.png" id="95" name="Google Shape;9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2300" y="1303765"/>
            <a:ext cx="3474720" cy="3394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d0ba4f6f1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rebuchet MS"/>
              <a:buNone/>
            </a:pPr>
            <a:r>
              <a:rPr b="1" lang="pl" sz="4000">
                <a:latin typeface="Trebuchet MS"/>
                <a:ea typeface="Trebuchet MS"/>
                <a:cs typeface="Trebuchet MS"/>
                <a:sym typeface="Trebuchet MS"/>
              </a:rPr>
              <a:t>Developer Salary Prediction</a:t>
            </a:r>
            <a:endParaRPr sz="4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ed0ba4f6f1_0_0"/>
          <p:cNvSpPr txBox="1"/>
          <p:nvPr>
            <p:ph idx="1" type="body"/>
          </p:nvPr>
        </p:nvSpPr>
        <p:spPr>
          <a:xfrm>
            <a:off x="311700" y="1152475"/>
            <a:ext cx="421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2,512 training rows · 329 engineered features · 6 models compared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Best model: SVR Linear · Normal RMSE: $33,368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l"/>
              <a:t>628 predictions were generated  in the final submission file.</a:t>
            </a:r>
            <a:endParaRPr/>
          </a:p>
        </p:txBody>
      </p:sp>
      <p:pic>
        <p:nvPicPr>
          <p:cNvPr id="102" name="Google Shape;102;g3ed0ba4f6f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9950" y="1330525"/>
            <a:ext cx="4600151" cy="248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d0ba4f6f1_0_11"/>
          <p:cNvSpPr txBox="1"/>
          <p:nvPr>
            <p:ph type="title"/>
          </p:nvPr>
        </p:nvSpPr>
        <p:spPr>
          <a:xfrm>
            <a:off x="311700" y="445025"/>
            <a:ext cx="45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Data &amp; Exploratory Analysis</a:t>
            </a:r>
            <a:endParaRPr/>
          </a:p>
        </p:txBody>
      </p:sp>
      <p:sp>
        <p:nvSpPr>
          <p:cNvPr id="108" name="Google Shape;108;g3ed0ba4f6f1_0_11"/>
          <p:cNvSpPr txBox="1"/>
          <p:nvPr>
            <p:ph idx="1" type="body"/>
          </p:nvPr>
        </p:nvSpPr>
        <p:spPr>
          <a:xfrm>
            <a:off x="311700" y="1152475"/>
            <a:ext cx="7595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">
                <a:solidFill>
                  <a:schemeClr val="dk1"/>
                </a:solidFill>
              </a:rPr>
              <a:t>41 raw columns transformed into 329 features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">
                <a:solidFill>
                  <a:schemeClr val="dk1"/>
                </a:solidFill>
              </a:rPr>
              <a:t>Ordinal encoding: 9 ordered columns (e.g education, company size). 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">
                <a:solidFill>
                  <a:schemeClr val="dk1"/>
                </a:solidFill>
              </a:rPr>
              <a:t>region target encoding which replaced each region code with the mean log-salary of that region and turned out to be the single strongest predictor in the dataset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">
                <a:solidFill>
                  <a:schemeClr val="dk1"/>
                </a:solidFill>
              </a:rPr>
              <a:t>multi-select encoding for the 15 technology columns which produced roughly 315 binary indicator columns.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">
                <a:solidFill>
                  <a:schemeClr val="dk1"/>
                </a:solidFill>
              </a:rPr>
              <a:t>Interaction terms: manager × experience · education × experience · region × education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">
                <a:solidFill>
                  <a:schemeClr val="dk1"/>
                </a:solidFill>
              </a:rPr>
              <a:t>Missingness indicators for 8 high-missing columns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pl">
                <a:solidFill>
                  <a:schemeClr val="dk1"/>
                </a:solidFill>
              </a:rPr>
              <a:t>RobustScaler applied and it uses IQR which is resistant to extreme salary values.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ba4f6f1_0_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Validation Strategy &amp; RMSE Metric</a:t>
            </a:r>
            <a:endParaRPr/>
          </a:p>
        </p:txBody>
      </p:sp>
      <p:sp>
        <p:nvSpPr>
          <p:cNvPr id="114" name="Google Shape;114;g3ed0ba4f6f1_0_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70/15/15 split: Train -&gt; Validation -&gt; Holdout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Hyperparameters were tuned on validation set; GridSearchCV and RandomizedSearchCV (CV=5)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Normal RMSE: rows where true salary </a:t>
            </a:r>
            <a:r>
              <a:rPr lang="pl">
                <a:solidFill>
                  <a:schemeClr val="dk1"/>
                </a:solidFill>
              </a:rPr>
              <a:t>∈ [$41 - $177 388)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Full RMSE: all rows including outliers · ~$73,000 · shown for transparency only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Full RMSE inflated by ~39 extreme outlier rows · not a reflection of model quality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d0ba4f6f1_0_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Model Results</a:t>
            </a:r>
            <a:endParaRPr/>
          </a:p>
        </p:txBody>
      </p:sp>
      <p:sp>
        <p:nvSpPr>
          <p:cNvPr id="120" name="Google Shape;120;g3ed0ba4f6f1_0_30"/>
          <p:cNvSpPr txBox="1"/>
          <p:nvPr>
            <p:ph idx="1" type="body"/>
          </p:nvPr>
        </p:nvSpPr>
        <p:spPr>
          <a:xfrm>
            <a:off x="311700" y="978000"/>
            <a:ext cx="4578300" cy="44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SVR Linear: $33, 368 with best params: C=0.1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LASSO: Normal RMSE: $34,281 best params: α=0.01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Elastic Net · Normal RMSE: $34,506  best params: α=0.05, l1=0.3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KNN: Normal RMSE: $35,727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Ridge: Normal RMSE: $36,022  best params: α=100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SVR RBF: Normal RMSE: $36,040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Linear Regression (baseline): Normal RMSE: $47,152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All models retrained on full 2,512 rows before final predictions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1" name="Google Shape;121;g3ed0ba4f6f1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0400" y="1170125"/>
            <a:ext cx="3981200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77778"/>
              <a:buNone/>
            </a:pPr>
            <a:r>
              <a:rPr b="1" lang="pl" sz="4000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CONCLUSION - Task 2 </a:t>
            </a:r>
            <a:endParaRPr/>
          </a:p>
        </p:txBody>
      </p:sp>
      <p:sp>
        <p:nvSpPr>
          <p:cNvPr id="127" name="Google Shape;127;p8"/>
          <p:cNvSpPr txBox="1"/>
          <p:nvPr>
            <p:ph idx="1" type="body"/>
          </p:nvPr>
        </p:nvSpPr>
        <p:spPr>
          <a:xfrm>
            <a:off x="110532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0" lang="p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compared three Machine L</a:t>
            </a:r>
            <a:r>
              <a:rPr lang="p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earning</a:t>
            </a:r>
            <a:r>
              <a:rPr b="0" lang="pl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classifiers on the same preprocessed features and selected the winner using validation balanced accuracy. Linear SVM (svc_linear, C = 1.0) performed better (0.6719) and stayed consistent on the internal test (0.6768). The model detects many closed restaurants (recall ≈ 0.69) but closed predictions include false alarms (precision ≈ 0.18), which is expected with strong class imbalance.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d0ba4f6f1_0_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Conclusion - Task 1</a:t>
            </a:r>
            <a:endParaRPr/>
          </a:p>
        </p:txBody>
      </p:sp>
      <p:sp>
        <p:nvSpPr>
          <p:cNvPr id="133" name="Google Shape;133;g3ed0ba4f6f1_0_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SVR Linear selected as best model with the RMSE score of $33,368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All 2,512 training rows used and no data discarded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Mathematically the RMSE (~$73k) is shown for transparency · inflated by 39 outlier rows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329 features engineered from 41 raw columns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Strict 70/15/15 split with CV=5 with no data leakage and reliable performance estimates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pl">
                <a:solidFill>
                  <a:schemeClr val="dk1"/>
                </a:solidFill>
              </a:rPr>
              <a:t>628 predictions generated and saved to submission.csv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